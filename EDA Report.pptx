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CAFD7A2-5C5E-4A10-9590-BA311C714B04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EA58EB9D-EEA4-464D-AD11-6FFF03DC0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53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D7A2-5C5E-4A10-9590-BA311C714B04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EB9D-EEA4-464D-AD11-6FFF03DC0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73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CAFD7A2-5C5E-4A10-9590-BA311C714B04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58EB9D-EEA4-464D-AD11-6FFF03DC0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264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D7A2-5C5E-4A10-9590-BA311C714B04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EB9D-EEA4-464D-AD11-6FFF03DC0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435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D7A2-5C5E-4A10-9590-BA311C714B04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EB9D-EEA4-464D-AD11-6FFF03DC0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06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D7A2-5C5E-4A10-9590-BA311C714B04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EB9D-EEA4-464D-AD11-6FFF03DC0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21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D7A2-5C5E-4A10-9590-BA311C714B04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EB9D-EEA4-464D-AD11-6FFF03DC0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751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D7A2-5C5E-4A10-9590-BA311C714B04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EB9D-EEA4-464D-AD11-6FFF03DC0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276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D7A2-5C5E-4A10-9590-BA311C714B04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EB9D-EEA4-464D-AD11-6FFF03DC0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664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D7A2-5C5E-4A10-9590-BA311C714B04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EB9D-EEA4-464D-AD11-6FFF03DC0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472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CAFD7A2-5C5E-4A10-9590-BA311C714B04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58EB9D-EEA4-464D-AD11-6FFF03DC0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103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CAFD7A2-5C5E-4A10-9590-BA311C714B04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58EB9D-EEA4-464D-AD11-6FFF03DC08D2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862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CAFD7A2-5C5E-4A10-9590-BA311C714B04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58EB9D-EEA4-464D-AD11-6FFF03DC0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330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D7A2-5C5E-4A10-9590-BA311C714B04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EB9D-EEA4-464D-AD11-6FFF03DC0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870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D7A2-5C5E-4A10-9590-BA311C714B04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EB9D-EEA4-464D-AD11-6FFF03DC0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5135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D7A2-5C5E-4A10-9590-BA311C714B04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EB9D-EEA4-464D-AD11-6FFF03DC0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660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CAFD7A2-5C5E-4A10-9590-BA311C714B04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58EB9D-EEA4-464D-AD11-6FFF03DC0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806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FD7A2-5C5E-4A10-9590-BA311C714B04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8EB9D-EEA4-464D-AD11-6FFF03DC0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252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5262D2-A935-A567-4338-8AC76A26E2DB}"/>
              </a:ext>
            </a:extLst>
          </p:cNvPr>
          <p:cNvSpPr txBox="1"/>
          <p:nvPr/>
        </p:nvSpPr>
        <p:spPr>
          <a:xfrm>
            <a:off x="3961613" y="697584"/>
            <a:ext cx="42687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i="1" u="sng" dirty="0">
                <a:latin typeface="Algerian" panose="04020705040A02060702" pitchFamily="82" charset="0"/>
              </a:rPr>
              <a:t>DATASET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1852D-294A-9462-B0F3-59A6D7592C3C}"/>
              </a:ext>
            </a:extLst>
          </p:cNvPr>
          <p:cNvSpPr txBox="1"/>
          <p:nvPr/>
        </p:nvSpPr>
        <p:spPr>
          <a:xfrm>
            <a:off x="1896357" y="1874728"/>
            <a:ext cx="839928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Monotype Corsiva" panose="03010101010201010101" pitchFamily="66" charset="0"/>
              </a:rPr>
              <a:t>The dataset represents a structured form of customer information for the bank, including a combination of demographic fields (Gender, Nationality, Occupation, Branch ID) and financial fields (Estimated Income, Bank Deposits, Savings, Fixed Deposits, Superannuation). A first glimpse at the dataset reveals a clear definition of the data type and a low level of missing values.</a:t>
            </a:r>
            <a:endParaRPr lang="en-IN" sz="2800" b="1" dirty="0"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057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AAD4D-E27A-62C3-ABAA-9B0FEBFA3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F4A3C96-93C6-4224-0A26-44244464A7E1}"/>
              </a:ext>
            </a:extLst>
          </p:cNvPr>
          <p:cNvSpPr txBox="1"/>
          <p:nvPr/>
        </p:nvSpPr>
        <p:spPr>
          <a:xfrm>
            <a:off x="7890235" y="3883843"/>
            <a:ext cx="2790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Monotype Corsiva" panose="03010101010201010101" pitchFamily="66" charset="0"/>
              </a:rPr>
              <a:t>Income Distribution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0C655E-013E-F97A-47E4-A1E034300BAC}"/>
              </a:ext>
            </a:extLst>
          </p:cNvPr>
          <p:cNvSpPr txBox="1"/>
          <p:nvPr/>
        </p:nvSpPr>
        <p:spPr>
          <a:xfrm>
            <a:off x="876693" y="1423447"/>
            <a:ext cx="2856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Monotype Corsiva" panose="03010101010201010101" pitchFamily="66" charset="0"/>
              </a:rPr>
              <a:t>Univariate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0BC10D-CA60-2CF2-BDBA-7B48E88C9485}"/>
              </a:ext>
            </a:extLst>
          </p:cNvPr>
          <p:cNvSpPr txBox="1"/>
          <p:nvPr/>
        </p:nvSpPr>
        <p:spPr>
          <a:xfrm>
            <a:off x="377073" y="2667785"/>
            <a:ext cx="655839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  <a:latin typeface="Monotype Corsiva" panose="03010101010201010101" pitchFamily="66" charset="0"/>
              </a:rPr>
              <a:t>Findings:-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Estimated Income shows a right-skewed distribution, with most customers earning in the low-to-middle income range.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small proportion of customers fall into the high-income category, indicating income inequality within the customer base.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B4ED35-6CB7-F298-017A-34A049B97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4628" y="481046"/>
            <a:ext cx="4183594" cy="311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17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EE46B-AE9F-4F20-9F00-506E572F4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BC79DB-B82F-64A8-2AF9-715673FE2FD0}"/>
              </a:ext>
            </a:extLst>
          </p:cNvPr>
          <p:cNvSpPr txBox="1"/>
          <p:nvPr/>
        </p:nvSpPr>
        <p:spPr>
          <a:xfrm>
            <a:off x="876693" y="1423447"/>
            <a:ext cx="2856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Monotype Corsiva" panose="03010101010201010101" pitchFamily="66" charset="0"/>
              </a:rPr>
              <a:t>Univariate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839A0-F4E7-374D-72BA-211F18452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308" y="302513"/>
            <a:ext cx="3944683" cy="30556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5267E1-E3D3-362B-24DC-22967F5454EE}"/>
              </a:ext>
            </a:extLst>
          </p:cNvPr>
          <p:cNvSpPr txBox="1"/>
          <p:nvPr/>
        </p:nvSpPr>
        <p:spPr>
          <a:xfrm>
            <a:off x="8436990" y="3695307"/>
            <a:ext cx="2573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Monotype Corsiva" panose="03010101010201010101" pitchFamily="66" charset="0"/>
              </a:rPr>
              <a:t>Bank Deposits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A67637-000F-AC15-9241-1DC5ACAA79B6}"/>
              </a:ext>
            </a:extLst>
          </p:cNvPr>
          <p:cNvSpPr txBox="1"/>
          <p:nvPr/>
        </p:nvSpPr>
        <p:spPr>
          <a:xfrm>
            <a:off x="513760" y="2573318"/>
            <a:ext cx="64385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  <a:latin typeface="Monotype Corsiva" panose="03010101010201010101" pitchFamily="66" charset="0"/>
              </a:rPr>
              <a:t>Findings:-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Bank Deposits exhibit heavy right skewness.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majority of customers maintain moderate deposit balances, while a small group holds significantly high deposits.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103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50BF4-C21A-64A3-0793-5C1F88F7B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03FF24-A10A-A39B-21A0-067A862F9176}"/>
              </a:ext>
            </a:extLst>
          </p:cNvPr>
          <p:cNvSpPr txBox="1"/>
          <p:nvPr/>
        </p:nvSpPr>
        <p:spPr>
          <a:xfrm>
            <a:off x="876693" y="1423447"/>
            <a:ext cx="2856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Monotype Corsiva" panose="03010101010201010101" pitchFamily="66" charset="0"/>
              </a:rPr>
              <a:t>Univariate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95BD1B-A82E-BC4D-03FB-E31AB7934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988" y="506036"/>
            <a:ext cx="3682950" cy="27162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5CB4F6-6B95-57F2-7680-A25A871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292" y="506036"/>
            <a:ext cx="3475671" cy="26371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31EC64-7C8C-20D6-8B98-D71CF88B13F6}"/>
              </a:ext>
            </a:extLst>
          </p:cNvPr>
          <p:cNvSpPr txBox="1"/>
          <p:nvPr/>
        </p:nvSpPr>
        <p:spPr>
          <a:xfrm>
            <a:off x="6994688" y="3530142"/>
            <a:ext cx="3912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Monotype Corsiva" panose="03010101010201010101" pitchFamily="66" charset="0"/>
              </a:rPr>
              <a:t>Savings And Superannuation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F383C5-9F88-4C17-A1B4-256EA5CEA442}"/>
              </a:ext>
            </a:extLst>
          </p:cNvPr>
          <p:cNvSpPr txBox="1"/>
          <p:nvPr/>
        </p:nvSpPr>
        <p:spPr>
          <a:xfrm>
            <a:off x="480767" y="2630078"/>
            <a:ext cx="471654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rgbClr val="FF0000"/>
                </a:solidFill>
                <a:latin typeface="Monotype Corsiva" panose="03010101010201010101" pitchFamily="66" charset="0"/>
              </a:rPr>
              <a:t>Findings:-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investment-related variables follow a similar pattern: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1. High concentration at lower values.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2. Long tail of high-value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reflects typical customer behavior in retail banking.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882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13E47-740F-0E85-E3EE-76851DDF1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9A3B95-A31A-A290-96D9-FFCD59E4F116}"/>
              </a:ext>
            </a:extLst>
          </p:cNvPr>
          <p:cNvSpPr txBox="1"/>
          <p:nvPr/>
        </p:nvSpPr>
        <p:spPr>
          <a:xfrm>
            <a:off x="876693" y="1423447"/>
            <a:ext cx="2856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Monotype Corsiva" panose="03010101010201010101" pitchFamily="66" charset="0"/>
              </a:rPr>
              <a:t>Univariate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DC320A-821D-5F60-3DA3-4A7E916AA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310" y="216451"/>
            <a:ext cx="3719960" cy="30983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EFF845-84E9-F7E2-A813-AC454CA26E75}"/>
              </a:ext>
            </a:extLst>
          </p:cNvPr>
          <p:cNvSpPr txBox="1"/>
          <p:nvPr/>
        </p:nvSpPr>
        <p:spPr>
          <a:xfrm>
            <a:off x="7494310" y="3543241"/>
            <a:ext cx="3719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Monotype Corsiva" panose="03010101010201010101" pitchFamily="66" charset="0"/>
              </a:rPr>
              <a:t>Income Band Segmentation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306048-A98F-8201-A102-89525F4642CA}"/>
              </a:ext>
            </a:extLst>
          </p:cNvPr>
          <p:cNvSpPr txBox="1"/>
          <p:nvPr/>
        </p:nvSpPr>
        <p:spPr>
          <a:xfrm>
            <a:off x="801278" y="2356701"/>
            <a:ext cx="59011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  <a:latin typeface="Monotype Corsiva" panose="03010101010201010101" pitchFamily="66" charset="0"/>
              </a:rPr>
              <a:t>Findings:-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Customers are primarily distributed across Low- and Middle-Income Bands.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 Income customers are fewer but financially significant.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546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8CED4-7872-0FBF-92ED-CF2E20B2B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1E99C7-4D99-AECF-9E55-BBD9877B22C6}"/>
              </a:ext>
            </a:extLst>
          </p:cNvPr>
          <p:cNvSpPr txBox="1"/>
          <p:nvPr/>
        </p:nvSpPr>
        <p:spPr>
          <a:xfrm>
            <a:off x="876693" y="1423447"/>
            <a:ext cx="2856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Monotype Corsiva" panose="03010101010201010101" pitchFamily="66" charset="0"/>
              </a:rPr>
              <a:t>Univariate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497A79-6D5F-C7CF-1E1E-0CEE90220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818" y="418694"/>
            <a:ext cx="3381221" cy="24470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B1A619-6835-F52D-2398-901F58E8E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5039" y="482946"/>
            <a:ext cx="3309854" cy="24042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F7DBEC-045C-ECA2-A58D-34C9B3947D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818" y="2835353"/>
            <a:ext cx="3309854" cy="23828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BBC711-3ED7-8DF9-151F-1AB3A42ED7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2559" y="2887168"/>
            <a:ext cx="3182334" cy="23309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E157B17-4F7F-A230-2C0D-07B5900FAD43}"/>
              </a:ext>
            </a:extLst>
          </p:cNvPr>
          <p:cNvSpPr txBox="1"/>
          <p:nvPr/>
        </p:nvSpPr>
        <p:spPr>
          <a:xfrm>
            <a:off x="6467833" y="5599522"/>
            <a:ext cx="4449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Monotype Corsiva" panose="03010101010201010101" pitchFamily="66" charset="0"/>
              </a:rPr>
              <a:t>Categorical Variable Distribution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8B122E-6EDE-8752-3066-6C4C39CC5320}"/>
              </a:ext>
            </a:extLst>
          </p:cNvPr>
          <p:cNvSpPr txBox="1"/>
          <p:nvPr/>
        </p:nvSpPr>
        <p:spPr>
          <a:xfrm>
            <a:off x="348792" y="2092751"/>
            <a:ext cx="455314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  <a:latin typeface="Monotype Corsiva" panose="03010101010201010101" pitchFamily="66" charset="0"/>
              </a:rPr>
              <a:t>Findings:-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Uneven customer distribution across branches, suggesting varying regional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Noticeable imbalance, which may influence product targeting strategies.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few nationalities represent the majority of customers.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747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E06F6-C8AD-F5A4-EE75-B3624EC83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67082F-3BF8-771C-4D97-1DEA69BB98B1}"/>
              </a:ext>
            </a:extLst>
          </p:cNvPr>
          <p:cNvSpPr txBox="1"/>
          <p:nvPr/>
        </p:nvSpPr>
        <p:spPr>
          <a:xfrm>
            <a:off x="876693" y="1423447"/>
            <a:ext cx="2856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Monotype Corsiva" panose="03010101010201010101" pitchFamily="66" charset="0"/>
              </a:rPr>
              <a:t>Bivariate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2D1DFC-FB12-FC22-DF86-BFFE9E610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006" y="501993"/>
            <a:ext cx="3249770" cy="24603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908030-1378-72CF-EEFB-12F52AEC36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776" y="501993"/>
            <a:ext cx="3149586" cy="23661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CE15AA-7B38-B7DB-E4F3-258BF72BCAC0}"/>
              </a:ext>
            </a:extLst>
          </p:cNvPr>
          <p:cNvSpPr txBox="1"/>
          <p:nvPr/>
        </p:nvSpPr>
        <p:spPr>
          <a:xfrm>
            <a:off x="6639137" y="3242820"/>
            <a:ext cx="3849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Monotype Corsiva" panose="03010101010201010101" pitchFamily="66" charset="0"/>
              </a:rPr>
              <a:t>Income VS Financial Assets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2231D3-6558-92B5-26D1-21DC65CD8405}"/>
              </a:ext>
            </a:extLst>
          </p:cNvPr>
          <p:cNvSpPr txBox="1"/>
          <p:nvPr/>
        </p:nvSpPr>
        <p:spPr>
          <a:xfrm>
            <a:off x="744718" y="2394408"/>
            <a:ext cx="441174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  <a:latin typeface="Monotype Corsiva" panose="03010101010201010101" pitchFamily="66" charset="0"/>
              </a:rPr>
              <a:t>Findings:-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Estimated Income shows a strong positive relationship with: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1.Bank Deposits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2.Savings Accounts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Higher-income customers tend to hold larger balances across multiple financial products.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313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21D9B-76FD-F646-57A7-251E0A09A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AA5C7-20F5-B7D0-CC08-54D414441445}"/>
              </a:ext>
            </a:extLst>
          </p:cNvPr>
          <p:cNvSpPr txBox="1"/>
          <p:nvPr/>
        </p:nvSpPr>
        <p:spPr>
          <a:xfrm>
            <a:off x="876693" y="1423447"/>
            <a:ext cx="2856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Monotype Corsiva" panose="03010101010201010101" pitchFamily="66" charset="0"/>
              </a:rPr>
              <a:t>Bivariate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060CE-946A-2186-CCFB-1780355EC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807" y="254525"/>
            <a:ext cx="4011799" cy="42986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6F534E-5408-5F8C-D7FB-1415F13566BF}"/>
              </a:ext>
            </a:extLst>
          </p:cNvPr>
          <p:cNvSpPr txBox="1"/>
          <p:nvPr/>
        </p:nvSpPr>
        <p:spPr>
          <a:xfrm>
            <a:off x="6504495" y="4553147"/>
            <a:ext cx="5608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Monotype Corsiva" panose="03010101010201010101" pitchFamily="66" charset="0"/>
              </a:rPr>
              <a:t>Relationship Between Financial Products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2D7CDA-E067-5BED-D822-C93697476CFF}"/>
              </a:ext>
            </a:extLst>
          </p:cNvPr>
          <p:cNvSpPr txBox="1"/>
          <p:nvPr/>
        </p:nvSpPr>
        <p:spPr>
          <a:xfrm>
            <a:off x="612742" y="2403836"/>
            <a:ext cx="495722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  <a:latin typeface="Monotype Corsiva" panose="03010101010201010101" pitchFamily="66" charset="0"/>
              </a:rPr>
              <a:t>Findings:-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Strong correlations observed between: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	1. Bank Deposits and Superannuation.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	2. Savings and Fixed Deposits.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Customers with higher deposits tend to invest across multiple products rather than a single asset type.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636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BA0FC-AC34-3071-1C42-D774D397A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E5B8AE-17C5-E6B5-A971-D7155B0A5EF4}"/>
              </a:ext>
            </a:extLst>
          </p:cNvPr>
          <p:cNvSpPr txBox="1"/>
          <p:nvPr/>
        </p:nvSpPr>
        <p:spPr>
          <a:xfrm>
            <a:off x="4347328" y="791852"/>
            <a:ext cx="3497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i="1" u="sng" dirty="0">
                <a:latin typeface="Algerian" panose="04020705040A02060702" pitchFamily="82" charset="0"/>
              </a:rPr>
              <a:t>Final Thoughts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41D28A-DACC-E4DE-3289-83CB2522BBAB}"/>
              </a:ext>
            </a:extLst>
          </p:cNvPr>
          <p:cNvSpPr txBox="1"/>
          <p:nvPr/>
        </p:nvSpPr>
        <p:spPr>
          <a:xfrm>
            <a:off x="2150882" y="1762813"/>
            <a:ext cx="78902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Monotype Corsiva" panose="03010101010201010101" pitchFamily="66" charset="0"/>
              </a:rPr>
              <a:t>Financial variables are highly skewed and require transformation before modeling.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Monotype Corsiva" panose="03010101010201010101" pitchFamily="66" charset="0"/>
              </a:rPr>
              <a:t>Income is the primary driver of asset accumulation.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Monotype Corsiva" panose="03010101010201010101" pitchFamily="66" charset="0"/>
              </a:rPr>
              <a:t>Customer wealth is concentrated among a small segment.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Monotype Corsiva" panose="03010101010201010101" pitchFamily="66" charset="0"/>
              </a:rPr>
              <a:t>Strong inter-product relationships suggest opportunities for cross-selling and portfolio expansion.</a:t>
            </a:r>
            <a:endParaRPr lang="en-IN" sz="2800" b="1" dirty="0"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154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4C17-E1AE-F72D-8E77-2A5454909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C19436-DEE9-FCA0-A75D-1918471E55CE}"/>
              </a:ext>
            </a:extLst>
          </p:cNvPr>
          <p:cNvSpPr txBox="1"/>
          <p:nvPr/>
        </p:nvSpPr>
        <p:spPr>
          <a:xfrm>
            <a:off x="3978111" y="2598003"/>
            <a:ext cx="4235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i="1" u="sng" dirty="0">
                <a:solidFill>
                  <a:srgbClr val="FF0000"/>
                </a:solidFill>
                <a:latin typeface="Algerian" panose="04020705040A02060702" pitchFamily="82" charset="0"/>
              </a:rPr>
              <a:t>-:THANK YOU:-</a:t>
            </a:r>
          </a:p>
        </p:txBody>
      </p:sp>
    </p:spTree>
    <p:extLst>
      <p:ext uri="{BB962C8B-B14F-4D97-AF65-F5344CB8AC3E}">
        <p14:creationId xmlns:p14="http://schemas.microsoft.com/office/powerpoint/2010/main" val="297295567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152</TotalTime>
  <Words>379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Algerian</vt:lpstr>
      <vt:lpstr>Arial</vt:lpstr>
      <vt:lpstr>Century Gothic</vt:lpstr>
      <vt:lpstr>Monotype Corsiva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Pati</dc:creator>
  <cp:lastModifiedBy>Pratik Pati</cp:lastModifiedBy>
  <cp:revision>1</cp:revision>
  <dcterms:created xsi:type="dcterms:W3CDTF">2026-01-01T14:47:55Z</dcterms:created>
  <dcterms:modified xsi:type="dcterms:W3CDTF">2026-01-01T17:20:26Z</dcterms:modified>
</cp:coreProperties>
</file>